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8426936e-308e-86f5-e3e6-46ecdd8cc8b8}">
          <p14:sldIdLst>
            <p14:sldId id="256"/>
          </p14:sldIdLst>
        </p14:section>
        <p14:section name="Problem" id="{392484ad-cceb-b466-f494-42f1ab00ff71}">
          <p14:sldIdLst>
            <p14:sldId id="257"/>
          </p14:sldIdLst>
        </p14:section>
        <p14:section name="Demo" id="{33744c6a-54f8-a9c2-425e-78ee8cbf8e29}">
          <p14:sldIdLst>
            <p14:sldId id="258"/>
          </p14:sldIdLst>
        </p14:section>
        <p14:section name="Technology" id="{95512579-e881-5331-439e-6b55348fe19c}">
          <p14:sldIdLst>
            <p14:sldId id="259"/>
            <p14:sldId id="260"/>
            <p14:sldId id="261"/>
            <p14:sldId id="262"/>
            <p14:sldId id="263"/>
          </p14:sldIdLst>
        </p14:section>
        <p14:section name="Business" id="{27dddc89-fe20-2940-3a23-e6c5e59871da}">
          <p14:sldIdLst>
            <p14:sldId id="264"/>
            <p14:sldId id="265"/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1F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6A0"/>
                </a:solidFill>
              </a:rPr>
              <a:t>Load Safety Gate  ·  Team Destroyerrrrs  ·  Computer Vision track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320040"/>
            <a:ext cx="110185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b="1" dirty="0">
                <a:solidFill>
                  <a:srgbClr val="1B1F23"/>
                </a:solidFill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6A0"/>
                </a:solidFill>
              </a:rPr>
              <a:t>Load Safety Gate  ·  Team Destroyerrrrs  ·  Computer Vision track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image" Target="../media/image-5-3.jp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image" Target="../media/image-7-3.jp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gif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463040"/>
            <a:ext cx="4754880" cy="4754880"/>
          </a:xfrm>
          <a:prstGeom prst="ellipse">
            <a:avLst/>
          </a:prstGeom>
          <a:solidFill>
            <a:srgbClr val="1F5F8B">
              <a:alpha val="28000"/>
            </a:srgbClr>
          </a:solidFill>
          <a:ln w="12700">
            <a:solidFill>
              <a:srgbClr val="1F5F8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280160" y="4206240"/>
            <a:ext cx="3657600" cy="3657600"/>
          </a:xfrm>
          <a:prstGeom prst="ellipse">
            <a:avLst/>
          </a:prstGeom>
          <a:solidFill>
            <a:srgbClr val="F2B705">
              <a:alpha val="16000"/>
            </a:srgbClr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607040" y="4937760"/>
            <a:ext cx="2377440" cy="2377440"/>
          </a:xfrm>
          <a:prstGeom prst="ellipse">
            <a:avLst/>
          </a:prstGeom>
          <a:solidFill>
            <a:srgbClr val="2A8A4A">
              <a:alpha val="20000"/>
            </a:srgbClr>
          </a:solidFill>
          <a:ln w="12700">
            <a:solidFill>
              <a:srgbClr val="2A8A4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778240" y="-1463040"/>
            <a:ext cx="4754880" cy="4754880"/>
          </a:xfrm>
          <a:prstGeom prst="ellipse">
            <a:avLst/>
          </a:prstGeom>
          <a:solidFill>
            <a:srgbClr val="1F5F8B">
              <a:alpha val="28000"/>
            </a:srgbClr>
          </a:solidFill>
          <a:ln w="12700">
            <a:solidFill>
              <a:srgbClr val="1F5F8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-1280160" y="4206240"/>
            <a:ext cx="3657600" cy="3657600"/>
          </a:xfrm>
          <a:prstGeom prst="ellipse">
            <a:avLst/>
          </a:prstGeom>
          <a:solidFill>
            <a:srgbClr val="F2B705">
              <a:alpha val="16000"/>
            </a:srgbClr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607040" y="4937760"/>
            <a:ext cx="2377440" cy="2377440"/>
          </a:xfrm>
          <a:prstGeom prst="ellipse">
            <a:avLst/>
          </a:prstGeom>
          <a:solidFill>
            <a:srgbClr val="2A8A4A">
              <a:alpha val="20000"/>
            </a:srgbClr>
          </a:solidFill>
          <a:ln w="12700">
            <a:solidFill>
              <a:srgbClr val="2A8A4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12801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Load Safety Gate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3774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2B705"/>
                </a:solidFill>
              </a:rPr>
              <a:t>One photo at the gate. GO or NO-GO before the truck leaves.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32004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96A0"/>
                </a:solidFill>
              </a:rPr>
              <a:t>Mode: Startup   ·   Track: Computer Vision   ·   Team Destroyerrrrs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40080" y="420624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2A8A4A"/>
          </a:solidFill>
          <a:ln w="12700">
            <a:solidFill>
              <a:srgbClr val="2A8A4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" y="42062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GO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2286000" y="420624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C9781A"/>
          </a:solidFill>
          <a:ln w="12700">
            <a:solidFill>
              <a:srgbClr val="C9781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286000" y="42062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WARN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931920" y="420624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E03A3A"/>
          </a:solidFill>
          <a:ln w="12700">
            <a:solidFill>
              <a:srgbClr val="E03A3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931920" y="42062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NO-GO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48463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6A0"/>
                </a:solidFill>
              </a:rPr>
              <a:t>Body roll  ·  Overhang  ·  Height  ·  Plates and people blurred before anything is shown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09728" cy="548640"/>
          </a:xfrm>
          <a:prstGeom prst="rect">
            <a:avLst/>
          </a:prstGeom>
          <a:solidFill>
            <a:srgbClr val="E03A3A"/>
          </a:solidFill>
          <a:ln w="12700">
            <a:solidFill>
              <a:srgbClr val="E03A3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143000"/>
            <a:ext cx="11247120" cy="0"/>
          </a:xfrm>
          <a:prstGeom prst="line">
            <a:avLst/>
          </a:prstGeom>
          <a:noFill/>
          <a:ln w="19050">
            <a:solidFill>
              <a:srgbClr val="EEF0EC"/>
            </a:solidFill>
            <a:prstDash val="solid"/>
          </a:ln>
        </p:spPr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685800" y="320040"/>
            <a:ext cx="11018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23"/>
                </a:solidFill>
              </a:rPr>
              <a:t>A badly loaded truck is checked by eye, or not at all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5486400" cy="1188720"/>
          </a:xfrm>
          <a:prstGeom prst="roundRect">
            <a:avLst>
              <a:gd name="adj" fmla="val 9231"/>
            </a:avLst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  <a:effectLst>
            <a:outerShdw sx="100000" sy="100000" kx="0" ky="0" algn="bl" rotWithShape="0" blurRad="76200" dist="25400" dir="36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417320"/>
            <a:ext cx="64008" cy="731520"/>
          </a:xfrm>
          <a:prstGeom prst="rect">
            <a:avLst/>
          </a:prstGeom>
          <a:solidFill>
            <a:srgbClr val="1F5F8B"/>
          </a:solidFill>
          <a:ln w="12700">
            <a:solidFill>
              <a:srgbClr val="1F5F8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371600"/>
            <a:ext cx="384048" cy="384048"/>
          </a:xfrm>
          <a:prstGeom prst="ellipse">
            <a:avLst/>
          </a:prstGeom>
          <a:solidFill>
            <a:srgbClr val="1F5F8B"/>
          </a:solidFill>
          <a:ln w="12700">
            <a:solidFill>
              <a:srgbClr val="1F5F8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43000" y="132588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Who uses it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8105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Gate operator or dispatcher at a terminal, fleet depot or dealer receiving yard. One photo, one answer, before the truck leaves.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487168"/>
            <a:ext cx="5486400" cy="1188720"/>
          </a:xfrm>
          <a:prstGeom prst="roundRect">
            <a:avLst>
              <a:gd name="adj" fmla="val 9231"/>
            </a:avLst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  <a:effectLst>
            <a:outerShdw sx="100000" sy="100000" kx="0" ky="0" algn="bl" rotWithShape="0" blurRad="967740000" dist="322580000" dir="216000000000">
              <a:srgbClr val="000000">
                <a:alpha val="180000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715768"/>
            <a:ext cx="64008" cy="731520"/>
          </a:xfrm>
          <a:prstGeom prst="rect">
            <a:avLst/>
          </a:prstGeom>
          <a:solidFill>
            <a:srgbClr val="E03A3A"/>
          </a:solidFill>
          <a:ln w="12700">
            <a:solidFill>
              <a:srgbClr val="E03A3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2670048"/>
            <a:ext cx="384048" cy="384048"/>
          </a:xfrm>
          <a:prstGeom prst="ellipse">
            <a:avLst/>
          </a:prstGeom>
          <a:solidFill>
            <a:srgbClr val="E03A3A"/>
          </a:solidFill>
          <a:ln w="12700">
            <a:solidFill>
              <a:srgbClr val="E03A3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143000" y="2624328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What goes wrong today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3108960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One-sided loads roll over. Overhanging cargo hits bridges and other vehicles. Oversized loads draw fines and stop the truck at the first police post.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3785616"/>
            <a:ext cx="5486400" cy="1188720"/>
          </a:xfrm>
          <a:prstGeom prst="roundRect">
            <a:avLst>
              <a:gd name="adj" fmla="val 9231"/>
            </a:avLst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  <a:effectLst>
            <a:outerShdw sx="100000" sy="100000" kx="0" ky="0" algn="bl" rotWithShape="0" blurRad="12290298000000" dist="4096766000000" dir="12960000000000000">
              <a:srgbClr val="000000">
                <a:alpha val="18000000000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57200" y="4014216"/>
            <a:ext cx="64008" cy="731520"/>
          </a:xfrm>
          <a:prstGeom prst="rect">
            <a:avLst/>
          </a:prstGeom>
          <a:solidFill>
            <a:srgbClr val="2A8A4A"/>
          </a:solidFill>
          <a:ln w="12700">
            <a:solidFill>
              <a:srgbClr val="2A8A4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3968496"/>
            <a:ext cx="384048" cy="384048"/>
          </a:xfrm>
          <a:prstGeom prst="ellipse">
            <a:avLst/>
          </a:prstGeom>
          <a:solidFill>
            <a:srgbClr val="2A8A4A"/>
          </a:solidFill>
          <a:ln w="12700">
            <a:solidFill>
              <a:srgbClr val="2A8A4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143000" y="3922776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Who pays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4407408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Fleet owner or terminal, per gate. Every Toyota and BYD arrives on a car carrier into a Royal Motors yard, and car carriers are the classic over-height and rear-overhang offenders.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5084064"/>
            <a:ext cx="5486400" cy="1188720"/>
          </a:xfrm>
          <a:prstGeom prst="roundRect">
            <a:avLst>
              <a:gd name="adj" fmla="val 9231"/>
            </a:avLst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  <a:effectLst>
            <a:outerShdw sx="100000" sy="100000" kx="0" ky="0" algn="bl" rotWithShape="0" blurRad="156086784600000000" dist="52028928200000000" dir="777600000000000000000">
              <a:srgbClr val="000000">
                <a:alpha val="1800000000000000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57200" y="5312664"/>
            <a:ext cx="64008" cy="731520"/>
          </a:xfrm>
          <a:prstGeom prst="rect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" y="5266944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143000" y="5221224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Regulation already exists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5705856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Uzbekistan Decree 342, Annex 2: height 4.0 m, width 2.55 m, rear protrusion 2 m. Nobody measures it at the gate.</a:t>
            </a:r>
            <a:endParaRPr lang="en-US" sz="1200" dirty="0"/>
          </a:p>
        </p:txBody>
      </p:sp>
      <p:pic>
        <p:nvPicPr>
          <p:cNvPr id="25" name="Image 0" descr="../eval/out/raw/car_carrier/car_carrier_1967_79_Saviem_SG2_fl_jpg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309360" y="1280160"/>
            <a:ext cx="5394960" cy="4023360"/>
          </a:xfrm>
          <a:prstGeom prst="rect">
            <a:avLst/>
          </a:prstGeom>
        </p:spPr>
      </p:pic>
      <p:sp>
        <p:nvSpPr>
          <p:cNvPr id="26" name="Text 23"/>
          <p:cNvSpPr txBox="1"/>
          <p:nvPr/>
        </p:nvSpPr>
        <p:spPr>
          <a:xfrm>
            <a:off x="6309360" y="539496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Live output of the deployed pipeline on a licensed test image (Wikimedia Commons, CC BY-SA 4.0).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-1645920"/>
            <a:ext cx="4206240" cy="4206240"/>
          </a:xfrm>
          <a:prstGeom prst="ellipse">
            <a:avLst/>
          </a:prstGeom>
          <a:solidFill>
            <a:srgbClr val="1F5F8B">
              <a:alpha val="22000"/>
            </a:srgbClr>
          </a:solidFill>
          <a:ln w="12700">
            <a:solidFill>
              <a:srgbClr val="1F5F8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26880" y="4023360"/>
            <a:ext cx="4023360" cy="4023360"/>
          </a:xfrm>
          <a:prstGeom prst="ellipse">
            <a:avLst/>
          </a:prstGeom>
          <a:solidFill>
            <a:srgbClr val="E03A3A">
              <a:alpha val="16000"/>
            </a:srgbClr>
          </a:solidFill>
          <a:ln w="12700">
            <a:solidFill>
              <a:srgbClr val="E03A3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demo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2801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2B70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amir-kuldashev--load-safety-gate-web.modal.run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0116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Open it on your phone. Take a photo of any truck, or give us one. No login, no app.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743200"/>
            <a:ext cx="66751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Plates and people are pixelated first. The original is never stored.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Green lines: body vertical edges and the ground line the roll is measured against.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Red line: cargo beyond the body edge, in centimetres. Magenta: cargo top to ground, in metres.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Verdict banner, per-check confidence, and the measured latency on CPU.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Every run gets an inspection ticket and lands in the shift journal: counts of GO, WARN, NO-GO for the day. Numbers only, the photo is discarded.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When the photo does not allow a measurement the check says so. No guess, ever.</a:t>
            </a:r>
            <a:endParaRPr lang="en-US" sz="1500" dirty="0"/>
          </a:p>
        </p:txBody>
      </p:sp>
      <p:pic>
        <p:nvPicPr>
          <p:cNvPr id="8" name="Image 0" descr="../eval/out/dbg_9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589520" y="2743200"/>
            <a:ext cx="4206240" cy="32918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09728" cy="548640"/>
          </a:xfrm>
          <a:prstGeom prst="rect">
            <a:avLst/>
          </a:prstGeom>
          <a:solidFill>
            <a:srgbClr val="1F5F8B"/>
          </a:solidFill>
          <a:ln w="12700">
            <a:solidFill>
              <a:srgbClr val="1F5F8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143000"/>
            <a:ext cx="11247120" cy="0"/>
          </a:xfrm>
          <a:prstGeom prst="line">
            <a:avLst/>
          </a:prstGeom>
          <a:noFill/>
          <a:ln w="19050">
            <a:solidFill>
              <a:srgbClr val="EEF0EC"/>
            </a:solidFill>
            <a:prstDash val="solid"/>
          </a:ln>
        </p:spPr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685800" y="320040"/>
            <a:ext cx="11018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23"/>
                </a:solidFill>
              </a:rPr>
              <a:t>A pipeline, not a prompt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1737360" cy="30175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1600200"/>
            <a:ext cx="548640" cy="548640"/>
          </a:xfrm>
          <a:prstGeom prst="ellipse">
            <a:avLst/>
          </a:prstGeom>
          <a:solidFill>
            <a:srgbClr val="8A96A0"/>
          </a:solidFill>
          <a:ln w="12700">
            <a:solidFill>
              <a:srgbClr val="8A96A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2402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Photo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265176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phone or gate camera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176272" y="2788920"/>
            <a:ext cx="237744" cy="274320"/>
          </a:xfrm>
          <a:prstGeom prst="rightArrow">
            <a:avLst/>
          </a:prstGeom>
          <a:solidFill>
            <a:srgbClr val="8A96A0"/>
          </a:solidFill>
          <a:ln w="12700">
            <a:solidFill>
              <a:srgbClr val="8A96A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77440" y="1463040"/>
            <a:ext cx="1737360" cy="30175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71800" y="1600200"/>
            <a:ext cx="548640" cy="548640"/>
          </a:xfrm>
          <a:prstGeom prst="ellipse">
            <a:avLst/>
          </a:prstGeom>
          <a:solidFill>
            <a:srgbClr val="1F5F8B"/>
          </a:solidFill>
          <a:ln w="12700">
            <a:solidFill>
              <a:srgbClr val="1F5F8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97180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468880" y="22402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Detect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2468880" y="265176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YOLO-World boxes: truck, trailer, cargo, car, plate, person. YOLOv8-seg truck mask. Pretrained, no training.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096512" y="2788920"/>
            <a:ext cx="237744" cy="274320"/>
          </a:xfrm>
          <a:prstGeom prst="rightArrow">
            <a:avLst/>
          </a:prstGeom>
          <a:solidFill>
            <a:srgbClr val="8A96A0"/>
          </a:solidFill>
          <a:ln w="12700">
            <a:solidFill>
              <a:srgbClr val="8A96A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297680" y="1463040"/>
            <a:ext cx="1737360" cy="30175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892040" y="1600200"/>
            <a:ext cx="548640" cy="548640"/>
          </a:xfrm>
          <a:prstGeom prst="ellipse">
            <a:avLst/>
          </a:prstGeom>
          <a:solidFill>
            <a:srgbClr val="E03A3A"/>
          </a:solidFill>
          <a:ln w="12700">
            <a:solidFill>
              <a:srgbClr val="E03A3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89204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4389120" y="22402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Blur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4389120" y="265176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plates and people pixelated before storage or display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016752" y="2788920"/>
            <a:ext cx="237744" cy="274320"/>
          </a:xfrm>
          <a:prstGeom prst="rightArrow">
            <a:avLst/>
          </a:prstGeom>
          <a:solidFill>
            <a:srgbClr val="8A96A0"/>
          </a:solidFill>
          <a:ln w="12700">
            <a:solidFill>
              <a:srgbClr val="8A96A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217920" y="1463040"/>
            <a:ext cx="1737360" cy="30175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812280" y="1600200"/>
            <a:ext cx="548640" cy="54864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81228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309360" y="22402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Measure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6309360" y="265176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wheel finder, ground line, body verticals vs scene verticals, scale from 2.55 m body or 1.05 m wheel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7936992" y="2788920"/>
            <a:ext cx="237744" cy="274320"/>
          </a:xfrm>
          <a:prstGeom prst="rightArrow">
            <a:avLst/>
          </a:prstGeom>
          <a:solidFill>
            <a:srgbClr val="8A96A0"/>
          </a:solidFill>
          <a:ln w="12700">
            <a:solidFill>
              <a:srgbClr val="8A96A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138160" y="1463040"/>
            <a:ext cx="1737360" cy="30175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732520" y="1600200"/>
            <a:ext cx="548640" cy="548640"/>
          </a:xfrm>
          <a:prstGeom prst="ellipse">
            <a:avLst/>
          </a:prstGeom>
          <a:solidFill>
            <a:srgbClr val="2A8A4A"/>
          </a:solidFill>
          <a:ln w="12700">
            <a:solidFill>
              <a:srgbClr val="2A8A4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73252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8229600" y="22402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Decide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8229600" y="265176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Decree 342 thresholds; GO, WARN, NO-GO, or CANNOT ASSESS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9857232" y="2788920"/>
            <a:ext cx="237744" cy="274320"/>
          </a:xfrm>
          <a:prstGeom prst="rightArrow">
            <a:avLst/>
          </a:prstGeom>
          <a:solidFill>
            <a:srgbClr val="8A96A0"/>
          </a:solidFill>
          <a:ln w="12700">
            <a:solidFill>
              <a:srgbClr val="8A96A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058400" y="1463040"/>
            <a:ext cx="1737360" cy="30175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0652760" y="1600200"/>
            <a:ext cx="548640" cy="548640"/>
          </a:xfrm>
          <a:prstGeom prst="ellipse">
            <a:avLst/>
          </a:prstGeom>
          <a:solidFill>
            <a:srgbClr val="3A4248"/>
          </a:solidFill>
          <a:ln w="12700">
            <a:solidFill>
              <a:srgbClr val="3A424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1065276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10149840" y="22402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Report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10149840" y="265176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annotated image, checklist, confidence, latency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57200" y="4754880"/>
            <a:ext cx="5486400" cy="1463040"/>
          </a:xfrm>
          <a:prstGeom prst="roundRect">
            <a:avLst>
              <a:gd name="adj" fmla="val 7500"/>
            </a:avLst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  <a:effectLst>
            <a:outerShdw sx="100000" sy="100000" kx="0" ky="0" algn="bl" rotWithShape="0" blurRad="1.98230216442e+21" dist="660767388140000000000" dir="4.6656e+25">
              <a:srgbClr val="000000">
                <a:alpha val="1.8e+24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457200" y="4983480"/>
            <a:ext cx="64008" cy="1005840"/>
          </a:xfrm>
          <a:prstGeom prst="rect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40080" y="4937760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1143000" y="489204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Ours</a:t>
            </a:r>
            <a:endParaRPr lang="en-US" sz="1600" dirty="0"/>
          </a:p>
        </p:txBody>
      </p:sp>
      <p:sp>
        <p:nvSpPr>
          <p:cNvPr id="44" name="Text 42"/>
          <p:cNvSpPr txBox="1"/>
          <p:nvPr/>
        </p:nvSpPr>
        <p:spPr>
          <a:xfrm>
            <a:off x="640080" y="5376672"/>
            <a:ext cx="5120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Privacy stage, wheel finder, geometry, decision rules, the 301-image licensed set, the 120-image labelled evaluation, the app and the deployment.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6217920" y="4754880"/>
            <a:ext cx="5486400" cy="1463040"/>
          </a:xfrm>
          <a:prstGeom prst="roundRect">
            <a:avLst>
              <a:gd name="adj" fmla="val 7500"/>
            </a:avLst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  <a:effectLst>
            <a:outerShdw sx="100000" sy="100000" kx="0" ky="0" algn="bl" rotWithShape="0" blurRad="2.5175237488134e+25" dist="8.391745829378e+24" dir="2.79936e+30">
              <a:srgbClr val="000000">
                <a:alpha val="1.8e+29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6217920" y="4983480"/>
            <a:ext cx="64008" cy="1005840"/>
          </a:xfrm>
          <a:prstGeom prst="rect">
            <a:avLst/>
          </a:prstGeom>
          <a:solidFill>
            <a:srgbClr val="8A96A0"/>
          </a:solidFill>
          <a:ln w="12700">
            <a:solidFill>
              <a:srgbClr val="8A96A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400800" y="4937760"/>
            <a:ext cx="384048" cy="384048"/>
          </a:xfrm>
          <a:prstGeom prst="ellipse">
            <a:avLst/>
          </a:prstGeom>
          <a:solidFill>
            <a:srgbClr val="8A96A0"/>
          </a:solidFill>
          <a:ln w="12700">
            <a:solidFill>
              <a:srgbClr val="8A96A0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6903720" y="489204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Borrowed, with attribution</a:t>
            </a:r>
            <a:endParaRPr lang="en-US" sz="1600" dirty="0"/>
          </a:p>
        </p:txBody>
      </p:sp>
      <p:sp>
        <p:nvSpPr>
          <p:cNvPr id="49" name="Text 47"/>
          <p:cNvSpPr txBox="1"/>
          <p:nvPr/>
        </p:nvSpPr>
        <p:spPr>
          <a:xfrm>
            <a:off x="6400800" y="5376672"/>
            <a:ext cx="5120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Two pretrained Ultralytics models (AGPL-3.0). Open-vocabulary prompts, no fine-tuning needed for the demo. Runs on CPU in 0.19 s per image.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09728" cy="548640"/>
          </a:xfrm>
          <a:prstGeom prst="rect">
            <a:avLst/>
          </a:prstGeom>
          <a:solidFill>
            <a:srgbClr val="1F5F8B"/>
          </a:solidFill>
          <a:ln w="12700">
            <a:solidFill>
              <a:srgbClr val="1F5F8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143000"/>
            <a:ext cx="11247120" cy="0"/>
          </a:xfrm>
          <a:prstGeom prst="line">
            <a:avLst/>
          </a:prstGeom>
          <a:noFill/>
          <a:ln w="19050">
            <a:solidFill>
              <a:srgbClr val="EEF0EC"/>
            </a:solidFill>
            <a:prstDash val="solid"/>
          </a:ln>
        </p:spPr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685800" y="320040"/>
            <a:ext cx="11018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23"/>
                </a:solidFill>
              </a:rPr>
              <a:t>Measured relative to the truck itself, so a phone photo is honest</a:t>
            </a:r>
            <a:endParaRPr lang="en-US" sz="3200" dirty="0"/>
          </a:p>
        </p:txBody>
      </p:sp>
      <p:pic>
        <p:nvPicPr>
          <p:cNvPr id="5" name="Image 0" descr="../eval/out/flatbed_13_08_09_hongkong_by_RalfR_016_jpg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280160"/>
            <a:ext cx="3611880" cy="2651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40233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5F8B"/>
                </a:solidFill>
              </a:rPr>
              <a:t>Body roll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4389120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Green: the body's vertical edges. Cyan: vertical lines in the scene. The angle between them is the roll, so a tilted phone does not tilt the truck.</a:t>
            </a:r>
            <a:endParaRPr lang="en-US" sz="1200" dirty="0"/>
          </a:p>
        </p:txBody>
      </p:sp>
      <p:pic>
        <p:nvPicPr>
          <p:cNvPr id="8" name="Image 1" descr="../eval/out/car_carrier_Ram_3500_DS_Towing_BMW_X5_F15_JPG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251960" y="1280160"/>
            <a:ext cx="3611880" cy="265176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251960" y="40233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03A3A"/>
                </a:solidFill>
              </a:rPr>
              <a:t>Overhang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4251960" y="4389120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Red: cargo beyond the body edge, converted to centimetres with the 1.05 m wheel or the 2.55 m body width in the same photo.</a:t>
            </a:r>
            <a:endParaRPr lang="en-US" sz="1200" dirty="0"/>
          </a:p>
        </p:txBody>
      </p:sp>
      <p:pic>
        <p:nvPicPr>
          <p:cNvPr id="11" name="Image 2" descr="../eval/out/oversized_Abnormal_Load_Front_End_Loader_Mammoet_Near_Ogies_15_3_2012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046720" y="1280160"/>
            <a:ext cx="3611880" cy="265176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8046720" y="40233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B705"/>
                </a:solidFill>
              </a:rPr>
              <a:t>Height</a:t>
            </a:r>
            <a:endParaRPr lang="en-US" sz="1600" dirty="0"/>
          </a:p>
        </p:txBody>
      </p:sp>
      <p:sp>
        <p:nvSpPr>
          <p:cNvPr id="13" name="Text 8"/>
          <p:cNvSpPr txBox="1"/>
          <p:nvPr/>
        </p:nvSpPr>
        <p:spPr>
          <a:xfrm>
            <a:off x="8046720" y="4389120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Magenta: cargo top to the ground line through the tyres, in metres, against the 4.0 m limit.</a:t>
            </a:r>
            <a:endParaRPr lang="en-US" sz="1200" dirty="0"/>
          </a:p>
        </p:txBody>
      </p:sp>
      <p:sp>
        <p:nvSpPr>
          <p:cNvPr id="14" name="Text 9"/>
          <p:cNvSpPr txBox="1"/>
          <p:nvPr/>
        </p:nvSpPr>
        <p:spPr>
          <a:xfrm>
            <a:off x="457200" y="55778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Every number is relative to an object in the same photo. No camera calibration, no absolute pose. When the photo has no usable reference the check says CANNOT ASSESS.</a:t>
            </a:r>
            <a:endParaRPr 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457200" y="603504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6A0"/>
                </a:solidFill>
              </a:rPr>
              <a:t>Photos: Wikimedia Commons, Ralf Roletschek (CC BY 3.0); Bull-Doser (Public domain); Bob Adams from George, South Africa (CC BY-SA 2.0). Annotations drawn by the pipeline.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09728" cy="548640"/>
          </a:xfrm>
          <a:prstGeom prst="rect">
            <a:avLst/>
          </a:prstGeom>
          <a:solidFill>
            <a:srgbClr val="1F5F8B"/>
          </a:solidFill>
          <a:ln w="12700">
            <a:solidFill>
              <a:srgbClr val="1F5F8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143000"/>
            <a:ext cx="11247120" cy="0"/>
          </a:xfrm>
          <a:prstGeom prst="line">
            <a:avLst/>
          </a:prstGeom>
          <a:noFill/>
          <a:ln w="19050">
            <a:solidFill>
              <a:srgbClr val="EEF0EC"/>
            </a:solidFill>
            <a:prstDash val="solid"/>
          </a:ln>
        </p:spPr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685800" y="320040"/>
            <a:ext cx="11018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23"/>
                </a:solidFill>
              </a:rPr>
              <a:t>Measured on a test set we built, including the bad news</a:t>
            </a:r>
            <a:endParaRPr lang="en-US" sz="3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566928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822960"/>
                <a:gridCol w="1005840"/>
                <a:gridCol w="822960"/>
                <a:gridCol w="731520"/>
                <a:gridCol w="8229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Subset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Images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Truck found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Wheels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Scale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Roll reported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Car carriers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0.89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0.60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0.71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0.21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Flatbeds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55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0.87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0.71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0.76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0.27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Semi-trailers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0.97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0.70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0.83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0.37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Oversized loads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44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0.86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0.50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0.59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0.11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Night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38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0.97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0.66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0.74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0.45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457200" y="338328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Detector hit rate on 301 licensed Commons photos (no labels needed). Night holds up: the truck mask is the most robust stage.</a:t>
            </a:r>
            <a:endParaRPr lang="en-US" sz="11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280160"/>
          <a:ext cx="53035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97280"/>
                <a:gridCol w="1097280"/>
                <a:gridCol w="109728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Check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Precision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Recall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tp/fp/fn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Tilted body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0.40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0.18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2/3/9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Rear overhang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0/1/7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Side overhang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n/a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0/0/6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Over height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0.57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0.24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4/3/13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Clean trucks, no false alarm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39 of 44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89% specificity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6400800" y="365760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Against 101 team-labelled images, 61 of them three-quarter views. Honest result: the phone mode is conservative. 89% of clean trucks pass without a false alarm, but it caught only 6 of 41 labelled positives, mostly three-quarter views where no scale object is visible. The calibrated gate camera is the fix, not a bigger model.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42976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1.63°</a:t>
            </a:r>
            <a:endParaRPr lang="en-US" sz="36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512064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roll instrument error, 56 rotated level photos at known angles, sign right 93% of the time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3291840" y="42976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0.19 s</a:t>
            </a:r>
            <a:endParaRPr lang="en-US" sz="3600" dirty="0"/>
          </a:p>
        </p:txBody>
      </p:sp>
      <p:sp>
        <p:nvSpPr>
          <p:cNvPr id="12" name="Text 8"/>
          <p:cNvSpPr txBox="1"/>
          <p:nvPr/>
        </p:nvSpPr>
        <p:spPr>
          <a:xfrm>
            <a:off x="3291840" y="512064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per image on 2 CPU cores, measured on the deployed server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6126480" y="42976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 $0.001</a:t>
            </a:r>
            <a:endParaRPr lang="en-US" sz="3600" dirty="0"/>
          </a:p>
        </p:txBody>
      </p:sp>
      <p:sp>
        <p:nvSpPr>
          <p:cNvPr id="14" name="Text 10"/>
          <p:cNvSpPr txBox="1"/>
          <p:nvPr/>
        </p:nvSpPr>
        <p:spPr>
          <a:xfrm>
            <a:off x="6126480" y="512064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compute per inspection; one warm server about $90 per month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8961120" y="42976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faces</a:t>
            </a:r>
            <a:endParaRPr lang="en-US" sz="3600" dirty="0"/>
          </a:p>
        </p:txBody>
      </p:sp>
      <p:sp>
        <p:nvSpPr>
          <p:cNvPr id="16" name="Text 12"/>
          <p:cNvSpPr txBox="1"/>
          <p:nvPr/>
        </p:nvSpPr>
        <p:spPr>
          <a:xfrm>
            <a:off x="8961120" y="512064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stored. Plates and people pixelated before anything is kept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09728" cy="548640"/>
          </a:xfrm>
          <a:prstGeom prst="rect">
            <a:avLst/>
          </a:prstGeom>
          <a:solidFill>
            <a:srgbClr val="1F5F8B"/>
          </a:solidFill>
          <a:ln w="12700">
            <a:solidFill>
              <a:srgbClr val="1F5F8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143000"/>
            <a:ext cx="11247120" cy="0"/>
          </a:xfrm>
          <a:prstGeom prst="line">
            <a:avLst/>
          </a:prstGeom>
          <a:noFill/>
          <a:ln w="19050">
            <a:solidFill>
              <a:srgbClr val="EEF0EC"/>
            </a:solidFill>
            <a:prstDash val="solid"/>
          </a:ln>
        </p:spPr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685800" y="320040"/>
            <a:ext cx="11018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23"/>
                </a:solidFill>
              </a:rPr>
              <a:t>Where it breaks, and what it does instead of guessing</a:t>
            </a:r>
            <a:endParaRPr lang="en-US" sz="3200" dirty="0"/>
          </a:p>
        </p:txBody>
      </p:sp>
      <p:pic>
        <p:nvPicPr>
          <p:cNvPr id="5" name="Image 0" descr="../eval/out/raw/overloaded/overloaded_1931_jpg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280160"/>
            <a:ext cx="3611880" cy="2651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4023360"/>
            <a:ext cx="3611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Not a truck, or a tiny truck in the frame. Result: CANNOT ASSESS. The overloaded-vehicles category on Commons is mostly carts and motorbikes.</a:t>
            </a:r>
            <a:endParaRPr lang="en-US" sz="1200" dirty="0"/>
          </a:p>
        </p:txBody>
      </p:sp>
      <p:pic>
        <p:nvPicPr>
          <p:cNvPr id="7" name="Image 1" descr="../eval/out/raw/car_carrier/car_carrier_080625_A_3715G_225_2668149320_jpg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251960" y="1280160"/>
            <a:ext cx="3611880" cy="265176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251960" y="4023360"/>
            <a:ext cx="3611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Front or three-quarter views foreshorten the body. Roll confidence drops below the floor and the check is skipped.</a:t>
            </a:r>
            <a:endParaRPr lang="en-US" sz="1200" dirty="0"/>
          </a:p>
        </p:txBody>
      </p:sp>
      <p:pic>
        <p:nvPicPr>
          <p:cNvPr id="9" name="Image 2" descr="../eval/out/raw/night/night_Anime_billboards_in_Akihabara_2012_09_18_jpg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046720" y="1280160"/>
            <a:ext cx="3611880" cy="265176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8046720" y="4023360"/>
            <a:ext cx="3611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Night street with no truck in frame: CANNOT ASSESS. Wheels hidden in shadow or behind tanks give a wrong scale; a height that comes out above 8 m is shown as unreliable, never reported as a measurement.</a:t>
            </a:r>
            <a:endParaRPr lang="en-US" sz="1200" dirty="0"/>
          </a:p>
        </p:txBody>
      </p:sp>
      <p:sp>
        <p:nvSpPr>
          <p:cNvPr id="11" name="Shape 6"/>
          <p:cNvSpPr/>
          <p:nvPr/>
        </p:nvSpPr>
        <p:spPr>
          <a:xfrm>
            <a:off x="457200" y="5394960"/>
            <a:ext cx="11247120" cy="868680"/>
          </a:xfrm>
          <a:prstGeom prst="roundRect">
            <a:avLst>
              <a:gd name="adj" fmla="val 12632"/>
            </a:avLst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  <a:effectLst>
            <a:outerShdw sx="100000" sy="100000" kx="0" ky="0" algn="bl" rotWithShape="0" blurRad="3.197255160993018e+29" dist="1.0657517203310059e+29" dir="1.6796159999999998e+35">
              <a:srgbClr val="000000">
                <a:alpha val="1.7999999999999998e+34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457200" y="5623560"/>
            <a:ext cx="64008" cy="411480"/>
          </a:xfrm>
          <a:prstGeom prst="rect">
            <a:avLst/>
          </a:prstGeom>
          <a:solidFill>
            <a:srgbClr val="C9781A"/>
          </a:solidFill>
          <a:ln w="12700">
            <a:solidFill>
              <a:srgbClr val="C9781A"/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640080" y="5577840"/>
            <a:ext cx="384048" cy="384048"/>
          </a:xfrm>
          <a:prstGeom prst="ellipse">
            <a:avLst/>
          </a:prstGeom>
          <a:solidFill>
            <a:srgbClr val="C9781A"/>
          </a:solidFill>
          <a:ln w="12700">
            <a:solidFill>
              <a:srgbClr val="C9781A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1143000" y="5532120"/>
            <a:ext cx="10378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Design rule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640080" y="6016752"/>
            <a:ext cx="108813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Every check reports a confidence and is skipped below a floor. A skipped check is shown as such, never as a pass.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463040"/>
            <a:ext cx="4754880" cy="4754880"/>
          </a:xfrm>
          <a:prstGeom prst="ellipse">
            <a:avLst/>
          </a:prstGeom>
          <a:solidFill>
            <a:srgbClr val="1F5F8B">
              <a:alpha val="28000"/>
            </a:srgbClr>
          </a:solidFill>
          <a:ln w="12700">
            <a:solidFill>
              <a:srgbClr val="1F5F8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280160" y="4206240"/>
            <a:ext cx="3657600" cy="3657600"/>
          </a:xfrm>
          <a:prstGeom prst="ellipse">
            <a:avLst/>
          </a:prstGeom>
          <a:solidFill>
            <a:srgbClr val="F2B705">
              <a:alpha val="16000"/>
            </a:srgbClr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607040" y="4937760"/>
            <a:ext cx="2377440" cy="2377440"/>
          </a:xfrm>
          <a:prstGeom prst="ellipse">
            <a:avLst/>
          </a:prstGeom>
          <a:solidFill>
            <a:srgbClr val="2A8A4A">
              <a:alpha val="20000"/>
            </a:srgbClr>
          </a:solidFill>
          <a:ln w="12700">
            <a:solidFill>
              <a:srgbClr val="2A8A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replication test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37160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A96A0"/>
                </a:solidFill>
              </a:rPr>
              <a:t>A weekend with the same tools gets you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920240"/>
            <a:ext cx="53035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A detector that draws boxes around trucks and cargo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A prompt to a vision model that says "looks overloaded"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No measurement, no threshold, no number a gate operator can act on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309360" y="137160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B705"/>
                </a:solidFill>
              </a:rPr>
              <a:t>What they do not get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1920240"/>
            <a:ext cx="53035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Perspective-safe roll from vertical edges, with a gravity reference in the same image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Centimetres and metres from a known object in the frame, and a CANNOT ASSESS path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A decision layer written from Decree 342, the regulation a police post actually applies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A privacy stage that makes the product legal to pilot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301 licensed images with hit rates, 120 labelled, and a deployed gate product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09728" cy="548640"/>
          </a:xfrm>
          <a:prstGeom prst="rect">
            <a:avLst/>
          </a:prstGeom>
          <a:solidFill>
            <a:srgbClr val="2A8A4A"/>
          </a:solidFill>
          <a:ln w="12700">
            <a:solidFill>
              <a:srgbClr val="2A8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143000"/>
            <a:ext cx="11247120" cy="0"/>
          </a:xfrm>
          <a:prstGeom prst="line">
            <a:avLst/>
          </a:prstGeom>
          <a:noFill/>
          <a:ln w="19050">
            <a:solidFill>
              <a:srgbClr val="EEF0EC"/>
            </a:solidFill>
            <a:prstDash val="solid"/>
          </a:ln>
        </p:spPr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685800" y="320040"/>
            <a:ext cx="11018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23"/>
                </a:solidFill>
              </a:rPr>
              <a:t>Pilot budget and payback, every assumption on the slide</a:t>
            </a:r>
            <a:endParaRPr lang="en-US" sz="3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576072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097280"/>
                <a:gridCol w="20116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Pilot cost, 3 months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Amount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Assumption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Team: 3 people, 3 months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$7,200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$800 per person per month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Cameras and mounts, 3 gates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$600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$200 per gate, one-off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Hosting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$270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one warm CPU server, $90 per month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Labelling and data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$500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about 40 hours of labelling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Legal and privacy review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in team time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blur at ingest, no personal data stored, one-day legal check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280160"/>
          <a:ext cx="53035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005840"/>
                <a:gridCol w="19202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Avoided loss, one fleet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Amount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Assumption, calibrated in the pilot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Departures screened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200 per day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mid-size fleet, one gate camera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Dangerous departures caught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 per month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conservative: 1 in ~6,000 departures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Cost of one load incident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$5,000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cargo loss + downtime + fine + claim handling; wide range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Avoided loss per year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$60,000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12 incidents x $5,000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206240"/>
            <a:ext cx="5760720" cy="2011680"/>
          </a:xfrm>
          <a:prstGeom prst="roundRect">
            <a:avLst>
              <a:gd name="adj" fmla="val 5455"/>
            </a:avLst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  <a:effectLst>
            <a:outerShdw sx="100000" sy="100000" kx="0" ky="0" algn="bl" rotWithShape="0" blurRad="4.0605140544611325e+33" dist="1.3535046848203775e+33" dir="1.0077695999999999e+40">
              <a:srgbClr val="000000">
                <a:alpha val="1.8e+39"/>
              </a:srgbClr>
            </a:outerShdw>
          </a:effectLst>
        </p:spPr>
      </p:sp>
      <p:sp>
        <p:nvSpPr>
          <p:cNvPr id="8" name="Shape 4"/>
          <p:cNvSpPr/>
          <p:nvPr/>
        </p:nvSpPr>
        <p:spPr>
          <a:xfrm>
            <a:off x="457200" y="4434840"/>
            <a:ext cx="64008" cy="1554480"/>
          </a:xfrm>
          <a:prstGeom prst="rect">
            <a:avLst/>
          </a:prstGeom>
          <a:solidFill>
            <a:srgbClr val="1F5F8B"/>
          </a:solidFill>
          <a:ln w="12700">
            <a:solidFill>
              <a:srgbClr val="1F5F8B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640080" y="4389120"/>
            <a:ext cx="384048" cy="384048"/>
          </a:xfrm>
          <a:prstGeom prst="ellipse">
            <a:avLst/>
          </a:prstGeom>
          <a:solidFill>
            <a:srgbClr val="1F5F8B"/>
          </a:solidFill>
          <a:ln w="12700">
            <a:solidFill>
              <a:srgbClr val="1F5F8B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1143000" y="434340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Unit economics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40080" y="4828032"/>
            <a:ext cx="5394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Price per gate per month, software only. Compute per inspection is below $0.001, so margin is in the subscription, not the inference. One server serves dozens of gates.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6400800" y="4206240"/>
            <a:ext cx="5303520" cy="2011680"/>
          </a:xfrm>
          <a:prstGeom prst="roundRect">
            <a:avLst>
              <a:gd name="adj" fmla="val 5455"/>
            </a:avLst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  <a:effectLst>
            <a:outerShdw sx="100000" sy="100000" kx="0" ky="0" algn="bl" rotWithShape="0" blurRad="5.156852849165638e+37" dist="1.7189509497218795e+37" dir="6.046617599999999e+44">
              <a:srgbClr val="000000">
                <a:alpha val="1.8e+44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400800" y="4434840"/>
            <a:ext cx="64008" cy="1554480"/>
          </a:xfrm>
          <a:prstGeom prst="rect">
            <a:avLst/>
          </a:prstGeom>
          <a:solidFill>
            <a:srgbClr val="2A8A4A"/>
          </a:solidFill>
          <a:ln w="12700">
            <a:solidFill>
              <a:srgbClr val="2A8A4A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583680" y="4389120"/>
            <a:ext cx="384048" cy="384048"/>
          </a:xfrm>
          <a:prstGeom prst="ellipse">
            <a:avLst/>
          </a:prstGeom>
          <a:solidFill>
            <a:srgbClr val="2A8A4A"/>
          </a:solidFill>
          <a:ln w="12700">
            <a:solidFill>
              <a:srgbClr val="2A8A4A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7086600" y="434340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Payback</a:t>
            </a:r>
            <a:endParaRPr lang="en-US" sz="1600" dirty="0"/>
          </a:p>
        </p:txBody>
      </p:sp>
      <p:sp>
        <p:nvSpPr>
          <p:cNvPr id="16" name="Text 12"/>
          <p:cNvSpPr txBox="1"/>
          <p:nvPr/>
        </p:nvSpPr>
        <p:spPr>
          <a:xfrm>
            <a:off x="6583680" y="4828032"/>
            <a:ext cx="49377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Pilot cost $8,570 (team $7,200 + cameras $600 + hosting $270 + labelling $500). Avoided loss $5,000 per month at one caught incident a month. Payback = 8,570 / 5,000 = 1.7 months, inside the pilot itself. The fleet's own incident rate replaces the assumption after month one.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-1645920"/>
            <a:ext cx="4206240" cy="4206240"/>
          </a:xfrm>
          <a:prstGeom prst="ellipse">
            <a:avLst/>
          </a:prstGeom>
          <a:solidFill>
            <a:srgbClr val="1F5F8B">
              <a:alpha val="22000"/>
            </a:srgbClr>
          </a:solidFill>
          <a:ln w="12700">
            <a:solidFill>
              <a:srgbClr val="1F5F8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26880" y="4023360"/>
            <a:ext cx="4023360" cy="4023360"/>
          </a:xfrm>
          <a:prstGeom prst="ellipse">
            <a:avLst/>
          </a:prstGeom>
          <a:solidFill>
            <a:srgbClr val="E03A3A">
              <a:alpha val="16000"/>
            </a:srgbClr>
          </a:solidFill>
          <a:ln w="12700">
            <a:solidFill>
              <a:srgbClr val="E03A3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640080" y="1554480"/>
            <a:ext cx="3474720" cy="2926080"/>
          </a:xfrm>
          <a:prstGeom prst="rect">
            <a:avLst/>
          </a:prstGeom>
          <a:solidFill>
            <a:srgbClr val="3A4248"/>
          </a:solidFill>
          <a:ln w="12700">
            <a:solidFill>
              <a:srgbClr val="3A424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17373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B705"/>
                </a:solidFill>
              </a:rPr>
              <a:t>Month 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286000"/>
            <a:ext cx="2926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Fixed, calibrated camera at one gate. Reference marker removes scale ambiguity. Ten-second video mode.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89120" y="1554480"/>
            <a:ext cx="3474720" cy="2926080"/>
          </a:xfrm>
          <a:prstGeom prst="rect">
            <a:avLst/>
          </a:prstGeom>
          <a:solidFill>
            <a:srgbClr val="3A4248"/>
          </a:solidFill>
          <a:ln w="12700">
            <a:solidFill>
              <a:srgbClr val="3A424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63440" y="17373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B705"/>
                </a:solidFill>
              </a:rPr>
              <a:t>Month 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4663440" y="2286000"/>
            <a:ext cx="2926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Fine-tune the detector on our labelled set. Add open door, loose strap and missing marking classes.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138160" y="1554480"/>
            <a:ext cx="3474720" cy="2926080"/>
          </a:xfrm>
          <a:prstGeom prst="rect">
            <a:avLst/>
          </a:prstGeom>
          <a:solidFill>
            <a:srgbClr val="3A4248"/>
          </a:solidFill>
          <a:ln w="12700">
            <a:solidFill>
              <a:srgbClr val="3A424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412480" y="17373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B705"/>
                </a:solidFill>
              </a:rPr>
              <a:t>Month 3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8412480" y="2286000"/>
            <a:ext cx="2926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Weighbridge and dispatch integration. Pilot at a Royal Motors receiving yard on incoming car carriers.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4937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6A0"/>
                </a:solidFill>
              </a:rPr>
              <a:t>Repository: github.com/Winner-121/Destroyerrrrs_Final_Stage   ·   Demo: amir-kuldashev--load-safety-gate-web.modal.run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-1645920"/>
            <a:ext cx="4206240" cy="4206240"/>
          </a:xfrm>
          <a:prstGeom prst="ellipse">
            <a:avLst/>
          </a:prstGeom>
          <a:solidFill>
            <a:srgbClr val="1F5F8B">
              <a:alpha val="22000"/>
            </a:srgbClr>
          </a:solidFill>
          <a:ln w="12700">
            <a:solidFill>
              <a:srgbClr val="1F5F8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26880" y="4023360"/>
            <a:ext cx="4023360" cy="4023360"/>
          </a:xfrm>
          <a:prstGeom prst="ellipse">
            <a:avLst/>
          </a:prstGeom>
          <a:solidFill>
            <a:srgbClr val="E03A3A">
              <a:alpha val="16000"/>
            </a:srgbClr>
          </a:solidFill>
          <a:ln w="12700">
            <a:solidFill>
              <a:srgbClr val="E03A3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463040"/>
            <a:ext cx="6858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Questions?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83464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A96A0"/>
                </a:solidFill>
              </a:rPr>
              <a:t>Open the gate on your phone right now: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29184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2B70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amir-kuldashev--load-safety-gate-web.modal.run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84048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9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github.com/Winner-121/Destroyerrrrs_Final_Stage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40080" y="47548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2A8A4A"/>
          </a:solidFill>
          <a:ln w="12700">
            <a:solidFill>
              <a:srgbClr val="2A8A4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47548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GO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286000" y="47548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C9781A"/>
          </a:solidFill>
          <a:ln w="12700">
            <a:solidFill>
              <a:srgbClr val="C9781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286000" y="47548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WARN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931920" y="47548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E03A3A"/>
          </a:solidFill>
          <a:ln w="12700">
            <a:solidFill>
              <a:srgbClr val="E03A3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931920" y="47548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NO-GO</a:t>
            </a:r>
            <a:endParaRPr lang="en-US" sz="1400" dirty="0"/>
          </a:p>
        </p:txBody>
      </p:sp>
      <p:pic>
        <p:nvPicPr>
          <p:cNvPr id="14" name="Image 0" descr="dancing_cat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1280160"/>
            <a:ext cx="4023360" cy="402336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7772400" y="539496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96A0"/>
                </a:solidFill>
              </a:rPr>
              <a:t>Team Destroyerrrrs, thank you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Load Safety Gate">
  <a:themeElements>
    <a:clrScheme name="Load Safety Gate">
      <a:dk1>
        <a:srgbClr val="1B1F23"/>
      </a:dk1>
      <a:lt1>
        <a:srgbClr val="FFFFFF"/>
      </a:lt1>
      <a:dk2>
        <a:srgbClr val="3A4248"/>
      </a:dk2>
      <a:lt2>
        <a:srgbClr val="EEF0EC"/>
      </a:lt2>
      <a:accent1>
        <a:srgbClr val="F2B705"/>
      </a:accent1>
      <a:accent2>
        <a:srgbClr val="1F5F8B"/>
      </a:accent2>
      <a:accent3>
        <a:srgbClr val="2A8A4A"/>
      </a:accent3>
      <a:accent4>
        <a:srgbClr val="E03A3A"/>
      </a:accent4>
      <a:accent5>
        <a:srgbClr val="8A96A0"/>
      </a:accent5>
      <a:accent6>
        <a:srgbClr val="C9781A"/>
      </a:accent6>
      <a:hlink>
        <a:srgbClr val="1F5F8B"/>
      </a:hlink>
      <a:folHlink>
        <a:srgbClr val="3A4248"/>
      </a:folHlink>
    </a:clrScheme>
    <a:fontScheme name="Load Safety Gat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Load Safety Gate</dc:title>
  <dc:subject>PptxGenJS Presentation</dc:subject>
  <dc:creator>Team Destroyerrrrs</dc:creator>
  <cp:lastModifiedBy>Team Destroyerrrrs</cp:lastModifiedBy>
  <cp:revision>1</cp:revision>
  <dcterms:created xsi:type="dcterms:W3CDTF">2026-10-11T06:30:26Z</dcterms:created>
  <dcterms:modified xsi:type="dcterms:W3CDTF">2026-10-11T06:30:26Z</dcterms:modified>
</cp:coreProperties>
</file>