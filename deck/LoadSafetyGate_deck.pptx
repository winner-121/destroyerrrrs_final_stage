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50c43b9-e1ec-51f4-b738-d3b8bec0e05e}">
          <p14:sldIdLst>
            <p14:sldId id="256"/>
          </p14:sldIdLst>
        </p14:section>
        <p14:section name="Problem" id="{b96a3707-14fc-0e8b-1c67-a300ca954942}">
          <p14:sldIdLst>
            <p14:sldId id="257"/>
          </p14:sldIdLst>
        </p14:section>
        <p14:section name="Demo" id="{f994aefc-5caa-e284-db7b-ef2b64e6a14d}">
          <p14:sldIdLst>
            <p14:sldId id="258"/>
          </p14:sldIdLst>
        </p14:section>
        <p14:section name="Technology" id="{5ebd7493-2ce4-1c9a-9122-4fc347e40425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3db94292-f941-46a1-98cb-9a90b45c9260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A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A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9CFF">
              <a:alpha val="14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9CFF">
              <a:alpha val="14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D3EE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708A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WARN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NO-GO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08A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badly loaded truck is checked by eye, or not at all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64008" cy="73152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87168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715768"/>
            <a:ext cx="64008" cy="7315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014216"/>
            <a:ext cx="64008" cy="7315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084064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5312664"/>
            <a:ext cx="64008" cy="7315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25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7C9CFF">
              <a:alpha val="12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8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pipeline, not a prompt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9768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05840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9DB0CB"/>
          </a:solidFill>
          <a:ln w="12700">
            <a:solidFill>
              <a:srgbClr val="9DB0C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4983480"/>
            <a:ext cx="6400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17920" y="47548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17920" y="4983480"/>
            <a:ext cx="64008" cy="1005840"/>
          </a:xfrm>
          <a:prstGeom prst="rect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Measured relative to the truck itself, so a phone photo is honest</a:t>
            </a:r>
            <a:endParaRPr lang="en-US" sz="2600" dirty="0"/>
          </a:p>
        </p:txBody>
      </p:sp>
      <p:pic>
        <p:nvPicPr>
          <p:cNvPr id="5" name="Image 0" descr="../eval/out/flatbed_13_08_09_hongkong_by_RalfR_016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9CFF"/>
                </a:solidFill>
              </a:rPr>
              <a:t>Body roll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Green: the body's vertical edges. Cyan: vertical lines in the scene. The angle between them is the roll, so a tilted phone does not tilt the truck.</a:t>
            </a:r>
            <a:endParaRPr lang="en-US" sz="1200" dirty="0"/>
          </a:p>
        </p:txBody>
      </p:sp>
      <p:pic>
        <p:nvPicPr>
          <p:cNvPr id="8" name="Image 1" descr="../eval/out/car_carrier_Ram_3500_DS_Towing_BMW_X5_F15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5196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3F5E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25196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Red: cargo beyond the body edge, converted to centimetres with the 1.05 m wheel or the 2.55 m body width in the same photo.</a:t>
            </a:r>
            <a:endParaRPr lang="en-US" sz="1200" dirty="0"/>
          </a:p>
        </p:txBody>
      </p:sp>
      <p:pic>
        <p:nvPicPr>
          <p:cNvPr id="11" name="Image 2" descr="../eval/out/oversized_Abnormal_Load_Front_End_Loader_Mammoet_Near_Ogies_15_3_201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4672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Height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04672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Magenta: cargo top to the ground line through the tyres, in metres, against the 4.0 m limit.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is relative to an object in the same photo. No camera calibration, no absolute pose. When the photo has no usable reference the check says CANNOT ASSESS.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8A"/>
                </a:solidFill>
              </a:rPr>
              <a:t>Photos: Wikimedia Commons, Ralf Roletschek (CC BY 3.0); Bull-Doser (Public domain); Bob Adams from George, South Africa (CC BY-SA 2.0). Annotations drawn by the pipeline.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Measured on a test set we built, including the bad news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4/3/13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89% of clean trucks pass without a false alarm, but it caught only 6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1.63°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0.19 s</a:t>
            </a:r>
            <a:endParaRPr lang="en-US" sz="340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$0.001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faces</a:t>
            </a:r>
            <a:endParaRPr lang="en-US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it breaks, and what it does instead of guessing</a:t>
            </a:r>
            <a:endParaRPr lang="en-US" sz="2600" dirty="0"/>
          </a:p>
        </p:txBody>
      </p:sp>
      <p:pic>
        <p:nvPicPr>
          <p:cNvPr id="5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7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9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Wheels hidden in shadow or behind tanks give a wrong scale; a height that comes out above 8 m is shown as unreliable, never reported as a measurement.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457200" y="5394960"/>
            <a:ext cx="11247120" cy="868680"/>
          </a:xfrm>
          <a:prstGeom prst="roundRect">
            <a:avLst>
              <a:gd name="adj" fmla="val 12632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57200" y="5623560"/>
            <a:ext cx="64008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9CFF">
              <a:alpha val="14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708A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Pilot budget and payback, every assumption on the slide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206240"/>
            <a:ext cx="5760720" cy="2011680"/>
          </a:xfrm>
          <a:prstGeom prst="roundRect">
            <a:avLst>
              <a:gd name="adj" fmla="val 5455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57200" y="4434840"/>
            <a:ext cx="64008" cy="155448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0" y="4206240"/>
            <a:ext cx="5303520" cy="2011680"/>
          </a:xfrm>
          <a:prstGeom prst="roundRect">
            <a:avLst>
              <a:gd name="adj" fmla="val 5455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0" y="4434840"/>
            <a:ext cx="64008" cy="1554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7C9CFF">
              <a:alpha val="12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</a:rPr>
              <a:t>Month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</a:rPr>
              <a:t>Month 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</a:rPr>
              <a:t>Month 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8A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7C9CFF">
              <a:alpha val="12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0708A"/>
                </a:solidFill>
              </a:rPr>
              <a:t>Open the gate on your phone right now: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7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github.com/Winner-121/Destroyerrrrs_Final_Stage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WARN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93192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3192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NO-GO</a:t>
            </a:r>
            <a:endParaRPr lang="en-US" sz="1400" dirty="0"/>
          </a:p>
        </p:txBody>
      </p:sp>
      <p:pic>
        <p:nvPicPr>
          <p:cNvPr id="14" name="Image 0" descr="dancing_ca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280160"/>
            <a:ext cx="4023360" cy="40233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772400" y="5394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0708A"/>
                </a:solidFill>
              </a:rPr>
              <a:t>Team Destroyerrrrs, thank you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EAF0FA"/>
      </a:dk1>
      <a:lt1>
        <a:srgbClr val="0A0F1E"/>
      </a:lt1>
      <a:dk2>
        <a:srgbClr val="9DB0CB"/>
      </a:dk2>
      <a:lt2>
        <a:srgbClr val="131C33"/>
      </a:lt2>
      <a:accent1>
        <a:srgbClr val="22D3EE"/>
      </a:accent1>
      <a:accent2>
        <a:srgbClr val="7C9CFF"/>
      </a:accent2>
      <a:accent3>
        <a:srgbClr val="22C55E"/>
      </a:accent3>
      <a:accent4>
        <a:srgbClr val="F43F5E"/>
      </a:accent4>
      <a:accent5>
        <a:srgbClr val="60708A"/>
      </a:accent5>
      <a:accent6>
        <a:srgbClr val="F59E0B"/>
      </a:accent6>
      <a:hlink>
        <a:srgbClr val="22D3EE"/>
      </a:hlink>
      <a:folHlink>
        <a:srgbClr val="7C9CFF"/>
      </a:folHlink>
    </a:clrScheme>
    <a:fontScheme name="Load Safety Gat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2026-10-11T06:43:33Z</dcterms:created>
  <dcterms:modified xsi:type="dcterms:W3CDTF">2026-10-11T06:43:33Z</dcterms:modified>
</cp:coreProperties>
</file>