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5f42e744-498b-bf00-345c-29f116906796}">
          <p14:sldIdLst>
            <p14:sldId id="256"/>
          </p14:sldIdLst>
        </p14:section>
        <p14:section name="Problem" id="{dda031ee-4496-dc46-f2bc-e17d73be9193}">
          <p14:sldIdLst>
            <p14:sldId id="257"/>
          </p14:sldIdLst>
        </p14:section>
        <p14:section name="Demo" id="{19625522-b377-b3e0-4c21-6b84727b7779}">
          <p14:sldIdLst>
            <p14:sldId id="258"/>
          </p14:sldIdLst>
        </p14:section>
        <p14:section name="Technology" id="{5c24f565-db23-8aab-3934-3862e3df833e}">
          <p14:sldIdLst>
            <p14:sldId id="259"/>
            <p14:sldId id="260"/>
            <p14:sldId id="261"/>
            <p14:sldId id="262"/>
            <p14:sldId id="263"/>
          </p14:sldIdLst>
        </p14:section>
        <p14:section name="Business" id="{873417aa-4a84-ee7c-63b0-48acc3e83537}">
          <p14:sldIdLst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1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6A0"/>
                </a:solidFill>
              </a:rPr>
              <a:t>Load Safety Gate  ·  Team Destroyerrrrs  ·  Computer Vision track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rgbClr val="1B1F23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6A0"/>
                </a:solidFill>
              </a:rPr>
              <a:t>Load Safety Gate  ·  Team Destroyerrrrs  ·  Computer Vision track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280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Load Safety Gate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3774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2B705"/>
                </a:solidFill>
              </a:rPr>
              <a:t>One photo at the gate. GO or NO-GO before the truck leaves.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2004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96A0"/>
                </a:solidFill>
              </a:rPr>
              <a:t>Mode: Startup   ·   Track: Computer Vision   ·   Team Destroyerrrrs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420624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4206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GO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286000" y="420624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C9781A"/>
          </a:solidFill>
          <a:ln w="12700">
            <a:solidFill>
              <a:srgbClr val="C9781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286000" y="4206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WARN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931920" y="420624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E03A3A"/>
          </a:solidFill>
          <a:ln w="12700">
            <a:solidFill>
              <a:srgbClr val="E03A3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931920" y="4206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NO-GO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4846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6A0"/>
                </a:solidFill>
              </a:rPr>
              <a:t>Body roll  ·  Overhang  ·  Height  ·  Plates and people blurred before anything is shown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A badly loaded truck is checked by eye, or not at all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5486400" cy="11887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371600"/>
            <a:ext cx="384048" cy="384048"/>
          </a:xfrm>
          <a:prstGeom prst="ellipse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132588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Who uses it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8105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Gate operator or dispatcher at a terminal, fleet depot or dealer receiving yard. One photo, one answer, before the truck leaves.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487168"/>
            <a:ext cx="5486400" cy="11887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2670048"/>
            <a:ext cx="384048" cy="384048"/>
          </a:xfrm>
          <a:prstGeom prst="ellipse">
            <a:avLst/>
          </a:prstGeom>
          <a:solidFill>
            <a:srgbClr val="E03A3A"/>
          </a:solidFill>
          <a:ln w="12700">
            <a:solidFill>
              <a:srgbClr val="E03A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43000" y="2624328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What goes wrong today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10896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One-sided loads roll over. Overhanging cargo hits bridges and other vehicles. Oversized loads draw fines and stop the truck at the first police post.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785616"/>
            <a:ext cx="5486400" cy="11887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3968496"/>
            <a:ext cx="384048" cy="384048"/>
          </a:xfrm>
          <a:prstGeom prst="ellipse">
            <a:avLst/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43000" y="3922776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Who pays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407408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Fleet owner or terminal, per gate. Every Toyota and BYD arrives on a car carrier into a Royal Motors yard, and car carriers are the classic over-height and rear-overhang offenders.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5084064"/>
            <a:ext cx="5486400" cy="11887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5266944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43000" y="522122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Regulation already exists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705856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Uzbekistan Decree 342, Annex 2: height 4.0 m, width 2.55 m, rear protrusion 2 m. Nobody measures it at the gate.</a:t>
            </a:r>
            <a:endParaRPr lang="en-US" sz="1200" dirty="0"/>
          </a:p>
        </p:txBody>
      </p:sp>
      <p:pic>
        <p:nvPicPr>
          <p:cNvPr id="19" name="Image 0" descr="../eval/out/raw/car_carrier/car_carrier_1967_79_Saviem_SG2_fl_jp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09360" y="1280160"/>
            <a:ext cx="5394960" cy="4023360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6309360" y="539496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Live output of the deployed pipeline on a licensed test image (Wikimedia Commons, CC BY-SA 4.0).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801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2B70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amir-kuldashev--load-safety-gate-web.modal.run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0116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Open it on your phone. Take a photo of any truck, or give us one. No login, no app.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43200"/>
            <a:ext cx="66751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Plates and people are pixelated first. The original is never stored.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Green lines: body vertical edges and the ground line the roll is measured against.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Red line: cargo beyond the body edge, in centimetres. Magenta: cargo top to ground, in metres.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Verdict banner, per-check confidence, and the measured latency on CPU.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Every run gets an inspection ticket and lands in the shift journal: counts of GO, WARN, NO-GO for the day. Numbers only, the photo is discarded.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When the photo does not allow a measurement the check says so. No guess, ever.</a:t>
            </a:r>
            <a:endParaRPr lang="en-US" sz="1500" dirty="0"/>
          </a:p>
        </p:txBody>
      </p:sp>
      <p:pic>
        <p:nvPicPr>
          <p:cNvPr id="6" name="Image 0" descr="../eval/out/dbg_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589520" y="2743200"/>
            <a:ext cx="4206240" cy="32918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A pipeline, not a prompt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1560" y="1600200"/>
            <a:ext cx="548640" cy="548640"/>
          </a:xfrm>
          <a:prstGeom prst="ellipse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Photo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phone or gate camera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17627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7744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71800" y="1600200"/>
            <a:ext cx="548640" cy="548640"/>
          </a:xfrm>
          <a:prstGeom prst="ellipse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7180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46888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Detect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46888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YOLO-World boxes: truck, trailer, cargo, car, plate, person. YOLOv8-seg truck mask. Pretrained, no training.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09651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29768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892040" y="1600200"/>
            <a:ext cx="548640" cy="548640"/>
          </a:xfrm>
          <a:prstGeom prst="ellipse">
            <a:avLst/>
          </a:prstGeom>
          <a:solidFill>
            <a:srgbClr val="E03A3A"/>
          </a:solidFill>
          <a:ln w="12700">
            <a:solidFill>
              <a:srgbClr val="E03A3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9204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Blur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38912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plates and people pixelated before storage or display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01675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1792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12280" y="1600200"/>
            <a:ext cx="548640" cy="54864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1228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30936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Measure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30936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wheel finder, ground line, body verticals vs scene verticals, scale from 2.55 m body or 1.05 m wheel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93699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3816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732520" y="1600200"/>
            <a:ext cx="548640" cy="548640"/>
          </a:xfrm>
          <a:prstGeom prst="ellipse">
            <a:avLst/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73252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Decide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Decree 342 thresholds; GO, WARN, NO-GO, or CANNOT ASSESS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85723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05840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652760" y="1600200"/>
            <a:ext cx="548640" cy="548640"/>
          </a:xfrm>
          <a:prstGeom prst="ellipse">
            <a:avLst/>
          </a:prstGeom>
          <a:solidFill>
            <a:srgbClr val="3A4248"/>
          </a:solidFill>
          <a:ln w="12700">
            <a:solidFill>
              <a:srgbClr val="3A424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65276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Report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annotated image, checklist, confidence, latency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57200" y="4754880"/>
            <a:ext cx="5486400" cy="146304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0080" y="493776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1143000" y="489204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Ours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640080" y="5376672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Privacy stage, wheel finder, geometry, decision rules, the 301-image licensed set, the 120-image labelled evaluation, the app and the deployment.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217920" y="4754880"/>
            <a:ext cx="5486400" cy="146304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400800" y="4937760"/>
            <a:ext cx="384048" cy="384048"/>
          </a:xfrm>
          <a:prstGeom prst="ellipse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903720" y="489204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Borrowed, with attribution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6400800" y="5376672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Two pretrained Ultralytics models (AGPL-3.0). Open-vocabulary prompts, no fine-tuning needed for the demo. Runs on CPU in 0.19 s per image.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Measured relative to the truck itself, so a phone photo is honest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3657600" cy="329184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384048" cy="384048"/>
          </a:xfrm>
          <a:prstGeom prst="ellipse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150876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Body roll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93392"/>
            <a:ext cx="3291840" cy="2578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Horizontal edges converge under perspective, so a level truck looks tilted if you compare top and bottom edges. We use the body's vertical edges instead: left and right halves converge in opposite directions and their mean cancels perspective. Reference: vertical lines in the scene (poles, walls), else the camera vertical at lower confidence.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51960" y="1371600"/>
            <a:ext cx="3657600" cy="329184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434840" y="1554480"/>
            <a:ext cx="384048" cy="384048"/>
          </a:xfrm>
          <a:prstGeom prst="ellipse">
            <a:avLst/>
          </a:prstGeom>
          <a:solidFill>
            <a:srgbClr val="E03A3A"/>
          </a:solidFill>
          <a:ln w="12700">
            <a:solidFill>
              <a:srgbClr val="E03A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37760" y="150876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Overhang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434840" y="1993392"/>
            <a:ext cx="3291840" cy="2578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Cargo extent beyond the body edge at cargo height. Rear overhang in a side view, side overhang in a rear view. Converted to centimetres with a known object in the same image: body width 2.55 m or wheel diameter 1.05 m.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46720" y="1371600"/>
            <a:ext cx="3657600" cy="329184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0" y="155448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732520" y="150876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Height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0" y="1993392"/>
            <a:ext cx="3291840" cy="2578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Ground line through the tyre contact points to the top of cargo or body, same scale. Compared with the 4.0 m legal limit.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4846320"/>
            <a:ext cx="11247120" cy="128016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5029200"/>
            <a:ext cx="384048" cy="384048"/>
          </a:xfrm>
          <a:prstGeom prst="ellipse">
            <a:avLst/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43000" y="4983480"/>
            <a:ext cx="10378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Product version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468112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 fixed gate camera with known position and a reference marker removes the remaining ambiguity. The phone mode you see today is the degraded fallback, and it says CANNOT ASSESS when the view does not support a measurement.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Measured on a test set we built, including the bad news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6692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822960"/>
                <a:gridCol w="1005840"/>
                <a:gridCol w="822960"/>
                <a:gridCol w="731520"/>
                <a:gridCol w="8229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Subset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Images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Truck found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Wheels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Scale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Roll reported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Car carriers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0.89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0.60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0.21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Flatbeds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0.27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Semi-trailers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0.83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0.37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Oversized loads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0.50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0.59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0.11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Night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38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0.66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0.45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338328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Detector hit rate on 301 licensed Commons photos (no labels needed). Night holds up: the truck mask is the most robust stage.</a:t>
            </a:r>
            <a:endParaRPr lang="en-US" sz="11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280160"/>
          <a:ext cx="53035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097280"/>
                <a:gridCol w="10972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Check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Precision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Recall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tp/fp/fn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Tilted body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0.33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0.09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1/2/10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Rear overhang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0/1/7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Side overhang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n/a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0/0/6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Over height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0.33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1/2/16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Clean trucks, no false alarm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41 of 44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93% specificity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400800" y="365760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Against 101 team-labelled images, 61 of them three-quarter views. Honest result: the phone mode is conservative. 93% of clean trucks pass without a false alarm, but it caught only 2 of 41 labelled positives, mostly three-quarter and rear views where no scale object is visible. The calibrated gate camera is the fix, not a bigger model.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42976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1.63°</a:t>
            </a:r>
            <a:endParaRPr lang="en-US" sz="36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51206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roll instrument error, 56 rotated level photos at known angles, sign right 93% of the time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3291840" y="42976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0.19 s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3291840" y="51206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per image on 2 CPU cores, measured on the deployed server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6126480" y="42976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$0.001</a:t>
            </a:r>
            <a:endParaRPr lang="en-US" sz="3600" dirty="0"/>
          </a:p>
        </p:txBody>
      </p:sp>
      <p:sp>
        <p:nvSpPr>
          <p:cNvPr id="12" name="Text 8"/>
          <p:cNvSpPr txBox="1"/>
          <p:nvPr/>
        </p:nvSpPr>
        <p:spPr>
          <a:xfrm>
            <a:off x="6126480" y="51206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compute per inspection; one warm server about $90 per month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8961120" y="42976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faces</a:t>
            </a:r>
            <a:endParaRPr lang="en-US" sz="3600" dirty="0"/>
          </a:p>
        </p:txBody>
      </p:sp>
      <p:sp>
        <p:nvSpPr>
          <p:cNvPr id="14" name="Text 10"/>
          <p:cNvSpPr txBox="1"/>
          <p:nvPr/>
        </p:nvSpPr>
        <p:spPr>
          <a:xfrm>
            <a:off x="8961120" y="51206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stored. Plates and people pixelated before anything is kept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Where it breaks, and what it does instead of guessing</a:t>
            </a:r>
            <a:endParaRPr lang="en-US" sz="3200" dirty="0"/>
          </a:p>
        </p:txBody>
      </p:sp>
      <p:pic>
        <p:nvPicPr>
          <p:cNvPr id="3" name="Image 0" descr="../eval/out/raw/overloaded/overloaded_1931_jp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280160"/>
            <a:ext cx="3611880" cy="26517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02336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Not a truck, or a tiny truck in the frame. Result: CANNOT ASSESS. The overloaded-vehicles category on Commons is mostly carts and motorbikes.</a:t>
            </a:r>
            <a:endParaRPr lang="en-US" sz="1200" dirty="0"/>
          </a:p>
        </p:txBody>
      </p:sp>
      <p:pic>
        <p:nvPicPr>
          <p:cNvPr id="5" name="Image 1" descr="../eval/out/raw/car_carrier/car_carrier_080625_A_3715G_225_2668149320_jpg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51960" y="1280160"/>
            <a:ext cx="3611880" cy="265176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251960" y="402336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Front or three-quarter views foreshorten the body. Roll confidence drops below the floor and the check is skipped.</a:t>
            </a:r>
            <a:endParaRPr lang="en-US" sz="1200" dirty="0"/>
          </a:p>
        </p:txBody>
      </p:sp>
      <p:pic>
        <p:nvPicPr>
          <p:cNvPr id="7" name="Image 2" descr="../eval/out/raw/night/night_Anime_billboards_in_Akihabara_2012_09_18_jpg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46720" y="1280160"/>
            <a:ext cx="3611880" cy="265176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8046720" y="402336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Night street with no truck in frame: CANNOT ASSESS. Dark trucks at night give a noisy mask edge and lower roll confidence; cargo the same colour as the body can merge into the mask.</a:t>
            </a:r>
            <a:endParaRPr lang="en-US" sz="1200" dirty="0"/>
          </a:p>
        </p:txBody>
      </p:sp>
      <p:sp>
        <p:nvSpPr>
          <p:cNvPr id="9" name="Shape 4"/>
          <p:cNvSpPr/>
          <p:nvPr/>
        </p:nvSpPr>
        <p:spPr>
          <a:xfrm>
            <a:off x="457200" y="5394960"/>
            <a:ext cx="11247120" cy="86868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640080" y="5577840"/>
            <a:ext cx="384048" cy="384048"/>
          </a:xfrm>
          <a:prstGeom prst="ellipse">
            <a:avLst/>
          </a:prstGeom>
          <a:solidFill>
            <a:srgbClr val="C9781A"/>
          </a:solidFill>
          <a:ln w="12700">
            <a:solidFill>
              <a:srgbClr val="C9781A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1143000" y="5532120"/>
            <a:ext cx="10378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Design rule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640080" y="6016752"/>
            <a:ext cx="108813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Every check reports a confidence and is skipped below a floor. A skipped check is shown as such, never as a pass.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replication test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A96A0"/>
                </a:solidFill>
              </a:rPr>
              <a:t>A weekend with the same tools gets you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20240"/>
            <a:ext cx="5303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 detector that draws boxes around trucks and cargo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 prompt to a vision model that says "looks overloaded"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No measurement, no threshold, no number a gate operator can act on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309360" y="13716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B705"/>
                </a:solidFill>
              </a:rPr>
              <a:t>What they do not get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309360" y="1920240"/>
            <a:ext cx="53035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Perspective-safe roll from vertical edges, with a gravity reference in the same image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Centimetres and metres from a known object in the frame, and a CANNOT ASSESS path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 decision layer written from Decree 342, the regulation a police post actually applies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 privacy stage that makes the product legal to pilot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301 licensed images with hit rates, 120 labelled, and a deployed gate product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Pilot budget and payback, every assumption on the slide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7607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97280"/>
                <a:gridCol w="20116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Pilot cost, 3 months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Amount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Assumption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Team: 2 engineers + 1 ops, part time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[confirm]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local salaries, 3 months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Cameras and mounts, 3 gates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$600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$200 per gate, one-off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Hosting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$270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one warm CPU server, $90 per month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Labelling and data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$500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about 40 hours of labelling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Legal and privacy review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[confirm]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blur at ingest, no personal data stored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280160"/>
          <a:ext cx="53035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9202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Avoided loss, one fleet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Amount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Assumption, calibrated in the pilot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Departures screened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200 per day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mid-size fleet, one gate camera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Dangerous departures caught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 per month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conservative: 1 in ~6,000 departures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Cost of one load incident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$5,000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cargo loss + downtime + fine + claim handling; wide range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Avoided loss per year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$60,000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 incidents x $5,000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457200" y="4206240"/>
            <a:ext cx="5760720" cy="201168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6" name="Shape 2"/>
          <p:cNvSpPr/>
          <p:nvPr/>
        </p:nvSpPr>
        <p:spPr>
          <a:xfrm>
            <a:off x="640080" y="4389120"/>
            <a:ext cx="384048" cy="384048"/>
          </a:xfrm>
          <a:prstGeom prst="ellipse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1143000" y="434340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Unit economics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4828032"/>
            <a:ext cx="5394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Price per gate per month, software only. Compute per inspection is below $0.001, so margin is in the subscription, not the inference. One server serves dozens of gates.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6400800" y="4206240"/>
            <a:ext cx="5303520" cy="201168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583680" y="4389120"/>
            <a:ext cx="384048" cy="384048"/>
          </a:xfrm>
          <a:prstGeom prst="ellipse">
            <a:avLst/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086600" y="434340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Payback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6583680" y="4828032"/>
            <a:ext cx="49377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Payback months = pilot cost / avoided loss per month. At one caught incident a month the avoided loss is $5,000 per month against $90 per month of hosting, so the one-off pilot cost is recovered within its first months. The fleet's own incident rate replaces the assumption after month one.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3474720" cy="2926080"/>
          </a:xfrm>
          <a:prstGeom prst="rect">
            <a:avLst/>
          </a:prstGeom>
          <a:solidFill>
            <a:srgbClr val="3A4248"/>
          </a:solidFill>
          <a:ln w="12700">
            <a:solidFill>
              <a:srgbClr val="3A424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737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705"/>
                </a:solidFill>
              </a:rPr>
              <a:t>Month 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28600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Fixed, calibrated camera at one gate. Reference marker removes scale ambiguity. Ten-second video mode.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389120" y="1554480"/>
            <a:ext cx="3474720" cy="2926080"/>
          </a:xfrm>
          <a:prstGeom prst="rect">
            <a:avLst/>
          </a:prstGeom>
          <a:solidFill>
            <a:srgbClr val="3A4248"/>
          </a:solidFill>
          <a:ln w="12700">
            <a:solidFill>
              <a:srgbClr val="3A424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63440" y="1737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705"/>
                </a:solidFill>
              </a:rPr>
              <a:t>Month 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228600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Fine-tune the detector on our labelled set. Add open door, loose strap and missing marking classes.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38160" y="1554480"/>
            <a:ext cx="3474720" cy="2926080"/>
          </a:xfrm>
          <a:prstGeom prst="rect">
            <a:avLst/>
          </a:prstGeom>
          <a:solidFill>
            <a:srgbClr val="3A4248"/>
          </a:solidFill>
          <a:ln w="12700">
            <a:solidFill>
              <a:srgbClr val="3A424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412480" y="1737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705"/>
                </a:solidFill>
              </a:rPr>
              <a:t>Month 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412480" y="228600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Weighbridge and dispatch integration. Pilot at a Royal Motors receiving yard on incoming car carriers.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4937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6A0"/>
                </a:solidFill>
              </a:rPr>
              <a:t>Repository: github.com/Winner-121/Destroyerrrrs_Final_Stage   ·   Demo: amir-kuldashev--load-safety-gate-web.modal.run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oad Safety Gate">
  <a:themeElements>
    <a:clrScheme name="Load Safety Gate">
      <a:dk1>
        <a:srgbClr val="1B1F23"/>
      </a:dk1>
      <a:lt1>
        <a:srgbClr val="FFFFFF"/>
      </a:lt1>
      <a:dk2>
        <a:srgbClr val="3A4248"/>
      </a:dk2>
      <a:lt2>
        <a:srgbClr val="EEF0EC"/>
      </a:lt2>
      <a:accent1>
        <a:srgbClr val="F2B705"/>
      </a:accent1>
      <a:accent2>
        <a:srgbClr val="1F5F8B"/>
      </a:accent2>
      <a:accent3>
        <a:srgbClr val="2A8A4A"/>
      </a:accent3>
      <a:accent4>
        <a:srgbClr val="E03A3A"/>
      </a:accent4>
      <a:accent5>
        <a:srgbClr val="8A96A0"/>
      </a:accent5>
      <a:accent6>
        <a:srgbClr val="C9781A"/>
      </a:accent6>
      <a:hlink>
        <a:srgbClr val="1F5F8B"/>
      </a:hlink>
      <a:folHlink>
        <a:srgbClr val="3A4248"/>
      </a:folHlink>
    </a:clrScheme>
    <a:fontScheme name="Load Safety Gat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Load Safety Gate</dc:title>
  <dc:subject>PptxGenJS Presentation</dc:subject>
  <dc:creator>Team Destroyerrrrs</dc:creator>
  <cp:lastModifiedBy>Team Destroyerrrrs</cp:lastModifiedBy>
  <cp:revision>1</cp:revision>
  <dcterms:created xsi:type="dcterms:W3CDTF">2026-10-10T17:39:30Z</dcterms:created>
  <dcterms:modified xsi:type="dcterms:W3CDTF">2026-10-10T17:39:30Z</dcterms:modified>
</cp:coreProperties>
</file>